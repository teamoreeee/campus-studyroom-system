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8351215" y="3931920"/>
            <a:ext cx="3840480" cy="2926080"/>
          </a:xfrm>
          <a:prstGeom prst="rtTriangl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9814255" y="5029200"/>
            <a:ext cx="2377440" cy="1828800"/>
          </a:xfrm>
          <a:prstGeom prst="rtTriangl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822960"/>
            <a:ext cx="6400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1E3A8A"/>
                </a:solidFill>
                <a:latin typeface="微软雅黑"/>
                <a:ea typeface="微软雅黑"/>
              </a:rPr>
              <a:t>校园自习室预约系统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基于 Spring Cloud Alibaba 微服务架构与 AI 智能推荐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160520"/>
            <a:ext cx="2926080" cy="317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43484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课程：软件架构技术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团队：CampusStudio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成员：架构师/后端·AI  +  前端/文档·答辩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指导教师：____      班级：____      日期：2026.06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02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51206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</a:rPr>
              <a:t>01   </a:t>
            </a: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项目背景与问题分析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</a:rPr>
              <a:t>02   </a:t>
            </a: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需求分析与功能设计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</a:rPr>
              <a:t>03   </a:t>
            </a: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系统架构设计（4+1 视图）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</a:rPr>
              <a:t>04   </a:t>
            </a: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数据库与国产化适配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51206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</a:rPr>
              <a:t>05   </a:t>
            </a: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AI 智能模块设计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</a:rPr>
              <a:t>06   </a:t>
            </a: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云原生部署与验证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</a:rPr>
              <a:t>07   </a:t>
            </a: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AI 辅助开发实践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</a:rPr>
              <a:t>08   </a:t>
            </a: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项目总结与展望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03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01  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高校自习室资源管理的现实痛点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103120"/>
            <a:ext cx="245745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103120"/>
            <a:ext cx="245745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35915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17520"/>
            <a:ext cx="209169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一座难求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高峰期学生逐层找座，效率低下，体验差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9010" y="2103120"/>
            <a:ext cx="245745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9010" y="2103120"/>
            <a:ext cx="245745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1890" y="235915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1890" y="3017520"/>
            <a:ext cx="209169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占座不学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空占现象普遍，资源严重浪费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103120"/>
            <a:ext cx="245745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5060" y="2103120"/>
            <a:ext cx="245745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77940" y="235915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7940" y="3017520"/>
            <a:ext cx="209169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考勤靠人工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人工统计易出错、不及时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1110" y="2103120"/>
            <a:ext cx="245745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1110" y="2103120"/>
            <a:ext cx="245745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63990" y="235915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990" y="3017520"/>
            <a:ext cx="209169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缺智能化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无数据驱动的推荐与精细化管理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E3A8A"/>
                </a:solidFill>
                <a:latin typeface="微软雅黑"/>
                <a:ea typeface="微软雅黑"/>
              </a:rPr>
              <a:t>→ 亟需一套数字化、智能化、可精细管理的自习室预约系统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04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01  项目目标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五大核心目标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286000"/>
            <a:ext cx="19202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28600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554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资源数字化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自习室、座位、时段全数字化建模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2286000"/>
            <a:ext cx="19202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228600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5468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200400"/>
            <a:ext cx="1554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预约智能化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AI 推荐最合适的座位与时段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286000"/>
            <a:ext cx="19202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228600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0352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200400"/>
            <a:ext cx="1554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考勤自动化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签到签退自动记录与时长统计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286000"/>
            <a:ext cx="19202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228600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200400"/>
            <a:ext cx="1554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管理精细化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违规行为智能检测与申诉处理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2286000"/>
            <a:ext cx="19202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2286000"/>
            <a:ext cx="192024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0120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200400"/>
            <a:ext cx="1554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架构云原生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Docker + Kubernetes 容器化部署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05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02  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功能模块与角色权限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7 大业务模块：用户管理 / 自习室管理 / 预约管理 / 考勤管理 / 违规管理 / AI 智能 / 通知管理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3 类角色：学生、管理员、超级管理员（RBAC 分级授权）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8 个核心用例：创建预约、签到、AI 推荐、取消预约、违规申诉、自习室管理、AI 异常分析、RAG 问答</a:t>
            </a:r>
          </a:p>
        </p:txBody>
      </p:sp>
      <p:pic>
        <p:nvPicPr>
          <p:cNvPr id="13" name="Picture 12" descr="diagram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394960" cy="20988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0" y="3927605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场景视图 · 用例图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06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03  技术选型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技术栈总览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1874519"/>
          <a:ext cx="1051560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72000"/>
                <a:gridCol w="4114800"/>
              </a:tblGrid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技术域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技术选型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版本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后端框架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Spring Boot + Spring Cloud Alibaba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JDK17 / Boot 3.2.5 / SCA 2023.0.1.2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前端框架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Vue3 + TypeScript + Pinia + Element Plus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Vue 3.4.21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数据库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MySQL 8.0 + 达梦8（双库兼容）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8.0.36 / DM8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缓存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Redis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7.0.15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服务治理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Nacos 注册中心 + LoadBalancer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2.3.0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网关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Spring Cloud Gateway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动态路由 + JWT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容器化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Docker + Kubernetes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Compose / K8s 1.29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07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03  架构论证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为什么选择微服务 + Spring Cloud Alibaba？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微服务 vs 单体：团队并行开发、独立部署、按服务弹性扩缩容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3B82F6"/>
                </a:solidFill>
                <a:latin typeface="微软雅黑"/>
                <a:ea typeface="微软雅黑"/>
              </a:rPr>
              <a:t>        –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本系统含 7 个清晰业务领域，天然适合微服务拆分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SCA vs Netflix：Nacos / Sentinel / Seata 国产化生态完善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3B82F6"/>
                </a:solidFill>
                <a:latin typeface="微软雅黑"/>
                <a:ea typeface="微软雅黑"/>
              </a:rPr>
              <a:t>        –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Netflix OSS 已进入维护模式，SCA 更契合国内信创要求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结论：采用 Spring Cloud Alibaba 微服务架构，兼顾扩展性与本土化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08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03  服务拆分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7 个微服务 + 1 网关 + 1 前端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1874519"/>
          <a:ext cx="5486399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2638"/>
                <a:gridCol w="739739"/>
                <a:gridCol w="2774022"/>
              </a:tblGrid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服务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端口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核心职责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campus-gateway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8000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统一入口、JWT 校验、动态路由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campus-auth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8001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登录注册、JWT 签发与刷新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campus-user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8002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用户资料、角色权限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campus-room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8003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自习室、座位、教学楼管理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campus-reservation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8004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预约创建、取消、冲突检测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campus-attendance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8005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考勤记录、学习时长统计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campus-ai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8006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智能推荐、RAG 智能客服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diagram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029200" cy="2630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2240" y="450458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总体架构图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09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04  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4+1 视图 · 场景视图：学生预约主线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42976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访问前端 → 网关 JWT 认证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浏览自习室列表、查看座位可用情况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选择日期/时段/座位并提交预约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预约服务执行时间冲突检测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创建预约记录、更新座位状态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预约时段内签到 / 签退</a:t>
            </a:r>
          </a:p>
        </p:txBody>
      </p:sp>
      <p:pic>
        <p:nvPicPr>
          <p:cNvPr id="13" name="Picture 12" descr="diagram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231" y="1783080"/>
            <a:ext cx="4586497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3520" y="603504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预约全链路时序图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10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04  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4+1 视图 · 逻辑视图：DDD 领域划分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47548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5 大领域：用户域 / 空间域 / 预约域 / 考勤域 / AI 域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核心实体：User、StudyRoom、StudySeat、Reservation、Attendance、KnowledgeBase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设计模式：工厂（通知）、策略（推荐）、观察者（预约事件）</a:t>
            </a:r>
          </a:p>
        </p:txBody>
      </p:sp>
      <p:pic>
        <p:nvPicPr>
          <p:cNvPr id="13" name="Picture 12" descr="diagram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83080"/>
            <a:ext cx="5760720" cy="14034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60720" y="3232241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领域模型类图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11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04  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4+1 视图 · 开发视图 + 进程视图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45720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Maven 多模块：backend / frontend / docs / k8s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后端分层：Controller → Service → Mapper → Entity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前端结构：api / views / components / stores / router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运行时：前端 → Gateway → 微服务 → MySQL / Redis</a:t>
            </a:r>
          </a:p>
        </p:txBody>
      </p:sp>
      <p:pic>
        <p:nvPicPr>
          <p:cNvPr id="13" name="Picture 12" descr="diagram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376" y="1783080"/>
            <a:ext cx="2674527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7840" y="603504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全链路调用时序图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12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04  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4+1 视图 · 物理视图：部署拓扑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45720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11 个容器运行于 campus-network 桥接网络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前端 nginx → Gateway → 7 微服务 → MySQL/Redis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Nacos 负责服务注册与发现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端口映射：MySQL 3307、Redis 6380、Nacos 8758</a:t>
            </a:r>
          </a:p>
        </p:txBody>
      </p:sp>
      <p:pic>
        <p:nvPicPr>
          <p:cNvPr id="13" name="Picture 12" descr="diagram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83080"/>
            <a:ext cx="5943600" cy="23122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7840" y="414104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Docker Compose 部署拓扑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13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05  安全架构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认证、授权与数据安全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JWT + Refresh Token：accessToken 2 小时 / refreshToken 7 天</a:t>
            </a:r>
          </a:p>
          <a:p>
            <a:pPr algn="l">
              <a:spcAft>
                <a:spcPts val="15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RBAC 三级权限：学生 / 管理员 / 超级管理员</a:t>
            </a:r>
          </a:p>
          <a:p>
            <a:pPr algn="l">
              <a:spcAft>
                <a:spcPts val="15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密码 BCrypt 加密存储，传输层 HTTPS</a:t>
            </a:r>
          </a:p>
          <a:p>
            <a:pPr algn="l">
              <a:spcAft>
                <a:spcPts val="15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参数化 SQL 防注入 + XSS 过滤</a:t>
            </a:r>
          </a:p>
          <a:p>
            <a:pPr algn="l">
              <a:spcAft>
                <a:spcPts val="15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600" b="0">
                <a:solidFill>
                  <a:srgbClr val="1F2937"/>
                </a:solidFill>
                <a:latin typeface="微软雅黑"/>
                <a:ea typeface="微软雅黑"/>
              </a:rPr>
              <a:t>网关统一鉴权，Token 过期返回 401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05  数据库设计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18 张表 + 双数据库兼容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48463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核心表：user / role / study_room / study_seat / reservation / attendance / violation / knowledge_base …</a:t>
            </a:r>
          </a:p>
          <a:p>
            <a:pPr algn="l">
              <a:spcAft>
                <a:spcPts val="13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遵循 3NF，统一审计字段（create_time / update_time / deleted）</a:t>
            </a:r>
          </a:p>
          <a:p>
            <a:pPr algn="l">
              <a:spcAft>
                <a:spcPts val="13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索引优化：reservation 复合索引 (room_id, seat_id, reserve_date)</a:t>
            </a:r>
          </a:p>
          <a:p>
            <a:pPr algn="l">
              <a:spcAft>
                <a:spcPts val="13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国产化：MySQL + 达梦8，JSON→CLOB、ENUM→VARCHAR</a:t>
            </a:r>
          </a:p>
        </p:txBody>
      </p:sp>
      <p:pic>
        <p:nvPicPr>
          <p:cNvPr id="13" name="Picture 12" descr="diagram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83080"/>
            <a:ext cx="5669280" cy="28491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2160" y="467790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数据库 ER 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15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06  AI 智能模块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协同过滤 + 内容推荐 混合算法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数据层：从 reservation 表构建用户-房间交互矩阵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算法层：计算用户余弦相似度，取 Top-N 相似用户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排序层：CF 分数(0.6) + 内容过滤分数(0.4) 加权融合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解释层：调用智谱 GLM 生成自然语言推荐理由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冷启动：新用户回退内容推荐 + 热门兜底</a:t>
            </a:r>
          </a:p>
        </p:txBody>
      </p:sp>
      <p:pic>
        <p:nvPicPr>
          <p:cNvPr id="13" name="Picture 12" descr="diagram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748" y="1783080"/>
            <a:ext cx="729544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603504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智能推荐流程图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16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06  AI 智能模块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基于知识库的 RAG 智能客服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知识库：knowledge_base 表存储规则、流程、FAQ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检索：关键词 + 中文 2-gram，title/keywords/content 加权打分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生成：检索结果注入 system prompt，调用智谱 GLM-4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降级：无 Key / API 失败时切换本地关键词匹配</a:t>
            </a:r>
          </a:p>
        </p:txBody>
      </p:sp>
      <p:pic>
        <p:nvPicPr>
          <p:cNvPr id="13" name="Picture 12" descr="diagram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83080"/>
            <a:ext cx="5577840" cy="35857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5414554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RAG 检索增强生成架构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17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07  AI 辅助开发实践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AI 如何加速本项目开发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7 条真实 AI 辅助开发记录，累计节省 20+ 小时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3B82F6"/>
                </a:solidFill>
                <a:latin typeface="微软雅黑"/>
                <a:ea typeface="微软雅黑"/>
              </a:rPr>
              <a:t>        –  </a:t>
            </a: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典型案例：协同过滤算法、RAG 检索、智谱 API 封装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3B82F6"/>
                </a:solidFill>
                <a:latin typeface="微软雅黑"/>
                <a:ea typeface="微软雅黑"/>
              </a:rPr>
              <a:t>        –  </a:t>
            </a: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Docker 健康检查、数据库索引优化、Vue3 组件开发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收益：开发效率提升、代码更规范、拓展知识边界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把关：边界处理、业务上下文、安全与性能仍需人工审查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18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08  云原生部署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Docker Compose 一键部署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11 个容器：3 基础(MySQL/Redis/Nacos) + 7 业务 + 1 前端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健康检查 + depends_on: service_healthy 保证启动顺序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预编译 jar + 轻量 JRE17 镜像，构建仅需 1–2 分钟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一键命令：mvn clean package → docker compose up -d --build</a:t>
            </a:r>
          </a:p>
        </p:txBody>
      </p:sp>
      <p:pic>
        <p:nvPicPr>
          <p:cNvPr id="13" name="Picture 12" descr="02-docker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5486400" cy="29489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0" y="48234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Docker Desktop 11 个容器 Running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19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08  部署验证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全链路验证通过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1874519"/>
          <a:ext cx="5303519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2937"/>
                <a:gridCol w="3030582"/>
              </a:tblGrid>
              <a:tr h="51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验证项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11 个容器状态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✅ 全部 Up / Healthy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7 个服务注册 Nacos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✅ 实例全部 healthy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网关登录链路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✅ 200 + JWT Token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前端页面访问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✅ http://localhost  HTTP 200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AI 健康检查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✅ {"status":"UP"}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01-docker-compose-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380" y="1874519"/>
            <a:ext cx="392748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57783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docker compose ps：全部 Up /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20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08  部署踩坑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5 个真实问题与排坑记录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1874519"/>
          <a:ext cx="10515598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890"/>
                <a:gridCol w="3345872"/>
                <a:gridCol w="4301836"/>
              </a:tblGrid>
              <a:tr h="6096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根因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解决方案</a:t>
                      </a:r>
                    </a:p>
                  </a:txBody>
                  <a:tcPr anchor="ctr" marT="38100" marB="38100" marL="88900" marR="63500"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镜像拉取超时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Docker Hub 国内受限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配置 6 个国内镜像加速器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Nacos 端口绑定失败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8848 落在 Windows 保留段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宿主端口改为 8758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服务启动崩溃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config.import 无 dataId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关配置中心，仅保留服务发现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Redis 连接失败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Boot3.2 配置项变更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改用 spring.data.redis.host</a:t>
                      </a:r>
                    </a:p>
                  </a:txBody>
                  <a:tcPr anchor="ctr" marT="25400" marB="25400" marL="88900" marR="63500">
                    <a:solidFill>
                      <a:srgbClr val="EFF6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网关路由 503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缺 loadbalancer 依赖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网关 pom 增加 loadbalancer</a:t>
                      </a:r>
                    </a:p>
                  </a:txBody>
                  <a:tcPr anchor="ctr" marT="25400" marB="25400" marL="889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21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09  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CampusStudio 团队分工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2377440"/>
            <a:ext cx="4686300" cy="2926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" y="2377440"/>
            <a:ext cx="468630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63040" y="263347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91840"/>
            <a:ext cx="43205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架构师 / 后端 / AI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负责 4+1 视图、微服务、数据库、AI 算法、Docker/K8s 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2377440"/>
            <a:ext cx="4686300" cy="2926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5060" y="2377440"/>
            <a:ext cx="468630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7940" y="263347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7940" y="3291840"/>
            <a:ext cx="43205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前端 / 文档 / 答辩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负责 Vue3 前端、前后端联调、文档、PPT、演示视频、Postman 测试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22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09  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项目四大亮点与创新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286000"/>
            <a:ext cx="245745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286000"/>
            <a:ext cx="245745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209169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微服务完整落地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7 业务服务 + 网关 + Nacos + LoadBalancer 动态路由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9010" y="2286000"/>
            <a:ext cx="245745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9010" y="2286000"/>
            <a:ext cx="245745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189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1890" y="3200400"/>
            <a:ext cx="209169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AI 双引擎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协同过滤推荐 + RAG 客服，真实接入智谱 GLM-4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286000"/>
            <a:ext cx="245745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5060" y="2286000"/>
            <a:ext cx="245745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7794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7940" y="3200400"/>
            <a:ext cx="209169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国产化适配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MySQL + 达梦8 双库兼容，满足信创要求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1110" y="2286000"/>
            <a:ext cx="245745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1110" y="2286000"/>
            <a:ext cx="245745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63990" y="2542032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E3A8A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990" y="3200400"/>
            <a:ext cx="209169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  <a:latin typeface="微软雅黑"/>
                <a:ea typeface="微软雅黑"/>
              </a:rPr>
              <a:t>云原生部署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Docker Compose 跑通 11 容器，全链路验证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37215" y="0"/>
            <a:ext cx="1554480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8735" y="256032"/>
            <a:ext cx="822960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0"/>
            <a:ext cx="731520" cy="14630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4415" cy="1651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944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校园自习室预约系统  ·  软件架构技术课程设计答辩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</a:rPr>
              <a:t>23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B82F6"/>
                </a:solidFill>
                <a:latin typeface="微软雅黑"/>
                <a:ea typeface="微软雅黑"/>
              </a:rPr>
              <a:t>09  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E3A8A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426464"/>
            <a:ext cx="137160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✓  已完成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50292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核心预约 / 考勤 / 违规流程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AI 推荐与 RAG 智能客服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Docker Compose 全链路部署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完整文档体系 + 100 页报告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微软雅黑"/>
                <a:ea typeface="微软雅黑"/>
              </a:rPr>
              <a:t>→  未来演进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53035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RabbitMQ 实现预约事件异步解耦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SkyWalking / Prometheus / Grafana 可观测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部署到 K8s 集群 + HPA 自动扩缩容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563EB"/>
                </a:solidFill>
                <a:latin typeface="微软雅黑"/>
                <a:ea typeface="微软雅黑"/>
              </a:rPr>
              <a:t>▪  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接入学校统一认证、门禁硬件联动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4663440"/>
            <a:ext cx="3108960" cy="2194560"/>
          </a:xfrm>
          <a:prstGeom prst="rt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9169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感谢聆听  ·  敬请指正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DBEAFE"/>
                </a:solidFill>
                <a:latin typeface="微软雅黑"/>
                <a:ea typeface="微软雅黑"/>
              </a:rPr>
              <a:t>Q  &amp; 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BEAFE"/>
                </a:solidFill>
                <a:latin typeface="微软雅黑"/>
                <a:ea typeface="微软雅黑"/>
              </a:rPr>
              <a:t>校园自习室预约系统  ·  CampusStudio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